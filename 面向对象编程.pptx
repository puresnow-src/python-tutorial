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6981F-AEB3-F224-53BB-50C6EC04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A18EE5-22FF-1DDE-9822-024BB9FFA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60453F-8618-9635-2DF4-DBB21421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473D8-D519-6A52-5B85-078A26F9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4FD6D9-1547-8521-D05F-21DA7BD2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32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9EC4A-8DB0-ED2F-C560-65529DF0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9398EA-4C82-C700-6387-DA1D675F2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2E8808-EE0E-3DC4-05C3-04AD3C36F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3C3CA4-E4B9-F3C5-F35D-36314461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7BD1E6-A6C8-8A1E-7078-B6A894D1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92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A3A6E-62D4-056F-37D3-09EEFC59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F2E8CC-29D7-8032-DB17-EA8498B78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72E91D-4B76-312F-5DD9-86A61B84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BD246A-165D-4F4C-03FC-69681D6E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99070-E580-B8E7-D657-95A6E1A2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5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5C210-0A48-D12A-77F2-DC337AEA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D2D432-3B92-BC74-6855-5BEAC31EE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70B0AF-CA57-A1FB-D418-4731299F5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0F2DC-3998-0B0A-B687-99784C5B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F4E3F-7110-F2D8-B975-15C21E74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D94C8B-ADC6-0A50-502C-2509BF6E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10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6CEE9-26E3-D2A1-1BF9-D1FD7F660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5FCE8-CB7E-EBDB-D84A-DA6D41A9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CC77EE-6FA2-113F-3E50-BCAD63187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D5E97A-BF4F-321A-022A-EFF6A5262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DBEA57-1DD1-54EB-8071-0FE67E9E8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C3AFB3-B56D-CD9E-B1C9-156D8533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4928C4-A534-9ABC-E0D3-DAA1B2C6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EC41ED-8B6B-9A60-66F8-B028BF53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9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24E62-AF34-4588-C4B1-0F2C1F0B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112301-2A37-2CBA-B380-04518F6D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3CCB7A-B120-9805-133B-B51E2998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A87C1B-F6F6-2B54-A66F-E7FD89CD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8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A60ECD-DD18-F662-70B3-74EFD670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FCB96F-5019-8CBC-2C28-FCAA4DE9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90318-93E7-534C-98BD-16C694FE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63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7FF0B-F05F-6E90-63EE-4DF82FF6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E152D7-986D-ED01-0558-5C96FE9F2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38B131-6EF2-055B-6114-1448015C4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56612-0039-269E-9AAE-EFE8E9B5A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42275A-9851-4C96-FDC4-4170DB96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D8CBE3-18AC-3EF3-3F58-2FCB33A2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71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2E665-D859-885C-4EC1-2D2BE7D7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61EC60-D555-DEA2-B34A-771A4013CD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3E6625-4A96-1873-D6E3-55F614BAF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7615B4-8D89-E056-A146-0441AB14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EB490C-E124-9CB0-D9DB-E4B224219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050E2F-9BCF-230A-4E49-F0ABBAF1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279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C78B5-06D9-BF69-AAA1-D3A2A489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7602CD-8FDA-96D1-BC75-8CC18509A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9A0FC9-E797-7885-21CF-9CF599635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05645A-63D3-0969-556D-656DCE15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C3AC8-8CBF-CEBE-8543-2CD77328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98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F3859E-0D5E-E447-35E4-10CD85295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A057F1-00B6-EB60-CF06-EED5B87E3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920D2-C7A7-CE85-FB65-7BC5D2A47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D80C2C-2EF9-715F-14BA-0BF4000B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92CAB-57E2-D87B-0E05-91A34737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0A4BEA-92AA-12D4-CF23-C855BF00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259A67-DC03-1B72-AF2F-46F6402D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6A535-6295-BEAD-DFFA-9DDEE654D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5B3A6-BFA0-4127-96C0-E501E6E8E40E}" type="datetimeFigureOut">
              <a:rPr lang="zh-CN" altLang="en-US" smtClean="0"/>
              <a:t>2026/04/11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E6BBCD-A5BA-E267-595B-3022CFA15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E5E64B-F4DD-C58C-B041-8659E7F45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C00F0-0A18-4A80-AEE3-41E6678754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17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65FAC2-624C-F2CD-FA97-92EA250028A0}"/>
              </a:ext>
            </a:extLst>
          </p:cNvPr>
          <p:cNvSpPr/>
          <p:nvPr/>
        </p:nvSpPr>
        <p:spPr>
          <a:xfrm>
            <a:off x="678541" y="2244708"/>
            <a:ext cx="10689145" cy="206210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面向对象编程</a:t>
            </a:r>
            <a:endParaRPr lang="en-US" altLang="zh-CN" sz="8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(Object Oriented Programming</a:t>
            </a:r>
            <a:r>
              <a:rPr lang="en-US" altLang="zh-CN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zh-CN" altLang="en-U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OOP</a:t>
            </a:r>
            <a:r>
              <a:rPr lang="en-US" altLang="zh-CN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zh-CN" altLang="en-US" sz="4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8063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3588F8E-E827-BE40-AB6C-2E812F7B0408}"/>
              </a:ext>
            </a:extLst>
          </p:cNvPr>
          <p:cNvSpPr/>
          <p:nvPr/>
        </p:nvSpPr>
        <p:spPr>
          <a:xfrm>
            <a:off x="203254" y="154635"/>
            <a:ext cx="757130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如果，我们需要编写几只鸟的程序：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93D4AB5-0618-9EAE-DCE3-768AB52BAE27}"/>
              </a:ext>
            </a:extLst>
          </p:cNvPr>
          <p:cNvSpPr/>
          <p:nvPr/>
        </p:nvSpPr>
        <p:spPr>
          <a:xfrm>
            <a:off x="291546" y="967409"/>
            <a:ext cx="11443253" cy="485029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99424D-3F76-B45A-61DE-74FC058681ED}"/>
              </a:ext>
            </a:extLst>
          </p:cNvPr>
          <p:cNvSpPr txBox="1"/>
          <p:nvPr/>
        </p:nvSpPr>
        <p:spPr>
          <a:xfrm>
            <a:off x="728870" y="1252332"/>
            <a:ext cx="3005951" cy="7694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</a:rPr>
              <a:t>小红家的鸟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AB86A2-21D1-177B-E003-4D2536335077}"/>
              </a:ext>
            </a:extLst>
          </p:cNvPr>
          <p:cNvSpPr txBox="1"/>
          <p:nvPr/>
        </p:nvSpPr>
        <p:spPr>
          <a:xfrm>
            <a:off x="8143465" y="1252332"/>
            <a:ext cx="3005951" cy="769441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accent4"/>
                </a:solidFill>
              </a:rPr>
              <a:t>小蓝家的鸟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20992B-8EA0-0A4B-D9F0-3C907F103B75}"/>
              </a:ext>
            </a:extLst>
          </p:cNvPr>
          <p:cNvSpPr txBox="1"/>
          <p:nvPr/>
        </p:nvSpPr>
        <p:spPr>
          <a:xfrm>
            <a:off x="728870" y="4683064"/>
            <a:ext cx="3005951" cy="769441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accent6"/>
                </a:solidFill>
              </a:rPr>
              <a:t>小绿家的鸟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8F74B0-917F-8948-7491-CE01C2C7BF5A}"/>
              </a:ext>
            </a:extLst>
          </p:cNvPr>
          <p:cNvSpPr txBox="1"/>
          <p:nvPr/>
        </p:nvSpPr>
        <p:spPr>
          <a:xfrm>
            <a:off x="8143465" y="4683064"/>
            <a:ext cx="3005951" cy="769441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accent5"/>
                </a:solidFill>
              </a:rPr>
              <a:t>小紫家的鸟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5F10B50-D285-B54B-E666-A6895092B02F}"/>
              </a:ext>
            </a:extLst>
          </p:cNvPr>
          <p:cNvGrpSpPr/>
          <p:nvPr/>
        </p:nvGrpSpPr>
        <p:grpSpPr>
          <a:xfrm>
            <a:off x="4478194" y="2021773"/>
            <a:ext cx="2880000" cy="2880000"/>
            <a:chOff x="4478194" y="2021773"/>
            <a:chExt cx="2880000" cy="2880000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2FC92C0-1291-D81B-3A7A-572AED06E177}"/>
                </a:ext>
              </a:extLst>
            </p:cNvPr>
            <p:cNvSpPr/>
            <p:nvPr/>
          </p:nvSpPr>
          <p:spPr>
            <a:xfrm>
              <a:off x="4478194" y="2021773"/>
              <a:ext cx="2880000" cy="288000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8D478A7-A0F7-FA9F-B8C5-693B89403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5587" y="2295325"/>
              <a:ext cx="1350993" cy="1414719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41CFC10-CB66-BFEA-4B28-5FF14B80E84F}"/>
                </a:ext>
              </a:extLst>
            </p:cNvPr>
            <p:cNvSpPr/>
            <p:nvPr/>
          </p:nvSpPr>
          <p:spPr>
            <a:xfrm>
              <a:off x="5267258" y="3834111"/>
              <a:ext cx="1313180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鸟类</a:t>
              </a:r>
              <a:endParaRPr lang="zh-CN" alt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5" name="箭头: 右 14">
            <a:extLst>
              <a:ext uri="{FF2B5EF4-FFF2-40B4-BE49-F238E27FC236}">
                <a16:creationId xmlns:a16="http://schemas.microsoft.com/office/drawing/2014/main" id="{215C8C5E-2C57-E291-0169-6D82A0518495}"/>
              </a:ext>
            </a:extLst>
          </p:cNvPr>
          <p:cNvSpPr/>
          <p:nvPr/>
        </p:nvSpPr>
        <p:spPr>
          <a:xfrm rot="2523452">
            <a:off x="3905894" y="2021948"/>
            <a:ext cx="715617" cy="682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860A14B8-B055-5BCA-833C-B213DF79D51E}"/>
              </a:ext>
            </a:extLst>
          </p:cNvPr>
          <p:cNvSpPr/>
          <p:nvPr/>
        </p:nvSpPr>
        <p:spPr>
          <a:xfrm rot="19600889">
            <a:off x="3894238" y="4122715"/>
            <a:ext cx="715617" cy="682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1C38F991-8737-4A19-6307-F1F9FB983386}"/>
              </a:ext>
            </a:extLst>
          </p:cNvPr>
          <p:cNvSpPr/>
          <p:nvPr/>
        </p:nvSpPr>
        <p:spPr>
          <a:xfrm rot="19076548" flipH="1">
            <a:off x="7245657" y="2021949"/>
            <a:ext cx="715617" cy="682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48B231F3-A0A2-767F-5BFA-70C5B36FC04D}"/>
              </a:ext>
            </a:extLst>
          </p:cNvPr>
          <p:cNvSpPr/>
          <p:nvPr/>
        </p:nvSpPr>
        <p:spPr>
          <a:xfrm rot="1999111" flipH="1">
            <a:off x="7234001" y="4122716"/>
            <a:ext cx="715617" cy="6824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67B96E-5E49-4A1C-1D1E-DA8813DB03DC}"/>
              </a:ext>
            </a:extLst>
          </p:cNvPr>
          <p:cNvSpPr txBox="1"/>
          <p:nvPr/>
        </p:nvSpPr>
        <p:spPr>
          <a:xfrm>
            <a:off x="125893" y="6027793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难道你需要为每一家的鸟都单独写一套程序？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D240D6-4E41-F175-4802-6B931200863F}"/>
              </a:ext>
            </a:extLst>
          </p:cNvPr>
          <p:cNvSpPr txBox="1"/>
          <p:nvPr/>
        </p:nvSpPr>
        <p:spPr>
          <a:xfrm>
            <a:off x="7220135" y="6027793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其实，它们本质上都属于鸟类</a:t>
            </a:r>
          </a:p>
        </p:txBody>
      </p:sp>
    </p:spTree>
    <p:extLst>
      <p:ext uri="{BB962C8B-B14F-4D97-AF65-F5344CB8AC3E}">
        <p14:creationId xmlns:p14="http://schemas.microsoft.com/office/powerpoint/2010/main" val="350206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D108DFD-3CAE-6F36-C430-258475A18FF0}"/>
              </a:ext>
            </a:extLst>
          </p:cNvPr>
          <p:cNvGrpSpPr/>
          <p:nvPr/>
        </p:nvGrpSpPr>
        <p:grpSpPr>
          <a:xfrm>
            <a:off x="1390926" y="2214284"/>
            <a:ext cx="2880000" cy="2880000"/>
            <a:chOff x="4478194" y="2021773"/>
            <a:chExt cx="2880000" cy="2880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069557CE-EB82-E6C8-AFE6-C9042D92350E}"/>
                </a:ext>
              </a:extLst>
            </p:cNvPr>
            <p:cNvSpPr/>
            <p:nvPr/>
          </p:nvSpPr>
          <p:spPr>
            <a:xfrm>
              <a:off x="4478194" y="2021773"/>
              <a:ext cx="2880000" cy="288000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095C33E-86CF-F59E-FE7D-B4259ECA1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5587" y="2295325"/>
              <a:ext cx="1350993" cy="1414719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B700D29-B5A0-4114-235C-9F3C91D11CDA}"/>
                </a:ext>
              </a:extLst>
            </p:cNvPr>
            <p:cNvSpPr/>
            <p:nvPr/>
          </p:nvSpPr>
          <p:spPr>
            <a:xfrm>
              <a:off x="5267258" y="3834111"/>
              <a:ext cx="1313180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鸟类</a:t>
              </a:r>
              <a:endParaRPr lang="zh-CN" alt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4E3B70F8-5136-6BBA-A136-6DC7C6C52B00}"/>
              </a:ext>
            </a:extLst>
          </p:cNvPr>
          <p:cNvSpPr/>
          <p:nvPr/>
        </p:nvSpPr>
        <p:spPr>
          <a:xfrm>
            <a:off x="203254" y="154635"/>
            <a:ext cx="20313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类与对象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43E704-FC79-4350-3430-0636A9C9FD69}"/>
              </a:ext>
            </a:extLst>
          </p:cNvPr>
          <p:cNvSpPr txBox="1"/>
          <p:nvPr/>
        </p:nvSpPr>
        <p:spPr>
          <a:xfrm>
            <a:off x="7911554" y="1205949"/>
            <a:ext cx="3005951" cy="7694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</a:rPr>
              <a:t>小红家的鸟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5A824-C01D-611F-A7BC-1104F464D186}"/>
              </a:ext>
            </a:extLst>
          </p:cNvPr>
          <p:cNvSpPr txBox="1"/>
          <p:nvPr/>
        </p:nvSpPr>
        <p:spPr>
          <a:xfrm>
            <a:off x="7911553" y="2247010"/>
            <a:ext cx="3005951" cy="769441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accent4"/>
                </a:solidFill>
              </a:rPr>
              <a:t>小蓝家的鸟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EC9D59-6DF5-E235-D728-36B644F075B3}"/>
              </a:ext>
            </a:extLst>
          </p:cNvPr>
          <p:cNvSpPr txBox="1"/>
          <p:nvPr/>
        </p:nvSpPr>
        <p:spPr>
          <a:xfrm>
            <a:off x="7911553" y="3268193"/>
            <a:ext cx="3005951" cy="769441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accent6"/>
                </a:solidFill>
              </a:rPr>
              <a:t>小绿家的鸟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A823ED-D7E3-6012-A01B-A0931D8CFC0D}"/>
              </a:ext>
            </a:extLst>
          </p:cNvPr>
          <p:cNvSpPr txBox="1"/>
          <p:nvPr/>
        </p:nvSpPr>
        <p:spPr>
          <a:xfrm>
            <a:off x="7911552" y="4296002"/>
            <a:ext cx="3005951" cy="769441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accent5"/>
                </a:solidFill>
              </a:rPr>
              <a:t>小紫家的鸟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E42E496-E089-B905-E386-B530402B2F7A}"/>
              </a:ext>
            </a:extLst>
          </p:cNvPr>
          <p:cNvCxnSpPr>
            <a:stCxn id="3" idx="6"/>
            <a:endCxn id="7" idx="1"/>
          </p:cNvCxnSpPr>
          <p:nvPr/>
        </p:nvCxnSpPr>
        <p:spPr>
          <a:xfrm flipV="1">
            <a:off x="4270926" y="1590670"/>
            <a:ext cx="3640628" cy="206361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67B2B58-4CB4-EC9C-263C-A6C3AE0C91F1}"/>
              </a:ext>
            </a:extLst>
          </p:cNvPr>
          <p:cNvCxnSpPr>
            <a:stCxn id="3" idx="6"/>
            <a:endCxn id="8" idx="1"/>
          </p:cNvCxnSpPr>
          <p:nvPr/>
        </p:nvCxnSpPr>
        <p:spPr>
          <a:xfrm flipV="1">
            <a:off x="4270926" y="2631731"/>
            <a:ext cx="3640627" cy="10225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547981B-B5EF-9382-B1E6-E2710E824AFF}"/>
              </a:ext>
            </a:extLst>
          </p:cNvPr>
          <p:cNvCxnSpPr>
            <a:stCxn id="3" idx="6"/>
            <a:endCxn id="9" idx="1"/>
          </p:cNvCxnSpPr>
          <p:nvPr/>
        </p:nvCxnSpPr>
        <p:spPr>
          <a:xfrm flipV="1">
            <a:off x="4270926" y="3652914"/>
            <a:ext cx="3640627" cy="13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FFD6996-A1DC-3317-D5CF-B9A0832C12D7}"/>
              </a:ext>
            </a:extLst>
          </p:cNvPr>
          <p:cNvCxnSpPr>
            <a:stCxn id="3" idx="6"/>
            <a:endCxn id="10" idx="1"/>
          </p:cNvCxnSpPr>
          <p:nvPr/>
        </p:nvCxnSpPr>
        <p:spPr>
          <a:xfrm>
            <a:off x="4270926" y="3654284"/>
            <a:ext cx="3640626" cy="102643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5B6CC4-79F8-4C54-FCA0-A202E5DB2690}"/>
              </a:ext>
            </a:extLst>
          </p:cNvPr>
          <p:cNvSpPr/>
          <p:nvPr/>
        </p:nvSpPr>
        <p:spPr>
          <a:xfrm>
            <a:off x="1625560" y="1075033"/>
            <a:ext cx="2236510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抽象的类别</a:t>
            </a:r>
            <a:endParaRPr lang="en-US" altLang="zh-CN" sz="3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zh-CN" altLang="en-US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模板</a:t>
            </a:r>
            <a:r>
              <a:rPr lang="en-US" altLang="zh-CN" sz="3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zh-CN" altLang="en-US" sz="3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8D36676-8539-F2B8-FDD2-9CA7D986700A}"/>
              </a:ext>
            </a:extLst>
          </p:cNvPr>
          <p:cNvSpPr/>
          <p:nvPr/>
        </p:nvSpPr>
        <p:spPr>
          <a:xfrm>
            <a:off x="8296272" y="440618"/>
            <a:ext cx="223651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具体的事物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819305-67AE-4701-F7D8-1A2FCD5E531B}"/>
              </a:ext>
            </a:extLst>
          </p:cNvPr>
          <p:cNvSpPr/>
          <p:nvPr/>
        </p:nvSpPr>
        <p:spPr>
          <a:xfrm>
            <a:off x="1686275" y="5671716"/>
            <a:ext cx="234230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类 </a:t>
            </a:r>
            <a:r>
              <a:rPr lang="en-US" altLang="zh-CN" sz="40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(Class)</a:t>
            </a:r>
            <a:endParaRPr lang="zh-CN" altLang="en-US" sz="4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975130-7CD1-8630-5554-FB8BB98B5D0D}"/>
              </a:ext>
            </a:extLst>
          </p:cNvPr>
          <p:cNvSpPr/>
          <p:nvPr/>
        </p:nvSpPr>
        <p:spPr>
          <a:xfrm>
            <a:off x="7822769" y="5671716"/>
            <a:ext cx="32223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对象 </a:t>
            </a:r>
            <a:r>
              <a:rPr lang="en-US" altLang="zh-CN" sz="40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(Object)</a:t>
            </a:r>
            <a:endParaRPr lang="zh-CN" altLang="en-US" sz="4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9C9DCC3-146A-AEF9-B520-F7469491F258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4028584" y="6025659"/>
            <a:ext cx="379418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24416AA-7619-3351-423D-9FE476854469}"/>
              </a:ext>
            </a:extLst>
          </p:cNvPr>
          <p:cNvSpPr/>
          <p:nvPr/>
        </p:nvSpPr>
        <p:spPr>
          <a:xfrm>
            <a:off x="4212461" y="5465701"/>
            <a:ext cx="331853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实例化 </a:t>
            </a:r>
            <a:r>
              <a:rPr lang="en-US" altLang="zh-CN" sz="2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(instantiate)</a:t>
            </a:r>
            <a:endParaRPr lang="zh-CN" altLang="en-US" sz="28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0025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8D317C7-2617-7FA9-21C9-D5E731D804FC}"/>
              </a:ext>
            </a:extLst>
          </p:cNvPr>
          <p:cNvCxnSpPr>
            <a:cxnSpLocks/>
          </p:cNvCxnSpPr>
          <p:nvPr/>
        </p:nvCxnSpPr>
        <p:spPr>
          <a:xfrm>
            <a:off x="4455280" y="3024801"/>
            <a:ext cx="2760529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846A135-51C9-67E4-6AC8-A9044D4937A7}"/>
              </a:ext>
            </a:extLst>
          </p:cNvPr>
          <p:cNvCxnSpPr>
            <a:cxnSpLocks/>
          </p:cNvCxnSpPr>
          <p:nvPr/>
        </p:nvCxnSpPr>
        <p:spPr>
          <a:xfrm>
            <a:off x="4446105" y="5054201"/>
            <a:ext cx="2760529" cy="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D0D0FC0C-EAFE-227D-D8C9-32474BB22E02}"/>
              </a:ext>
            </a:extLst>
          </p:cNvPr>
          <p:cNvSpPr/>
          <p:nvPr/>
        </p:nvSpPr>
        <p:spPr>
          <a:xfrm>
            <a:off x="203254" y="154635"/>
            <a:ext cx="526297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属性与状态、方法与行为</a:t>
            </a:r>
            <a:endParaRPr lang="zh-CN" altLang="en-US" sz="3600" b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3FA179-7ABF-FDEB-82C0-11310F295050}"/>
              </a:ext>
            </a:extLst>
          </p:cNvPr>
          <p:cNvSpPr/>
          <p:nvPr/>
        </p:nvSpPr>
        <p:spPr>
          <a:xfrm>
            <a:off x="1403544" y="1316140"/>
            <a:ext cx="190949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类 </a:t>
            </a:r>
            <a:r>
              <a:rPr lang="en-US" altLang="zh-CN" sz="32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(Class)</a:t>
            </a:r>
            <a:endParaRPr lang="zh-CN" altLang="en-US" sz="32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6C8601-A88F-7CBD-B20B-0C43F1B3669F}"/>
              </a:ext>
            </a:extLst>
          </p:cNvPr>
          <p:cNvSpPr/>
          <p:nvPr/>
        </p:nvSpPr>
        <p:spPr>
          <a:xfrm>
            <a:off x="8209602" y="363114"/>
            <a:ext cx="261481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对象 </a:t>
            </a:r>
            <a:r>
              <a:rPr lang="en-US" altLang="zh-CN" sz="32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(Object)</a:t>
            </a:r>
            <a:endParaRPr lang="zh-CN" altLang="en-US" sz="32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10FA5A6-40E0-C0C5-E732-EFE51C08316E}"/>
              </a:ext>
            </a:extLst>
          </p:cNvPr>
          <p:cNvGrpSpPr/>
          <p:nvPr/>
        </p:nvGrpSpPr>
        <p:grpSpPr>
          <a:xfrm>
            <a:off x="245165" y="1997809"/>
            <a:ext cx="4200940" cy="3935896"/>
            <a:chOff x="496956" y="1702903"/>
            <a:chExt cx="3385931" cy="393589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83E19C90-15B0-141A-D126-DA9237315AFD}"/>
                </a:ext>
              </a:extLst>
            </p:cNvPr>
            <p:cNvSpPr/>
            <p:nvPr/>
          </p:nvSpPr>
          <p:spPr>
            <a:xfrm>
              <a:off x="496956" y="1702903"/>
              <a:ext cx="3385931" cy="3935896"/>
            </a:xfrm>
            <a:prstGeom prst="roundRect">
              <a:avLst>
                <a:gd name="adj" fmla="val 8307"/>
              </a:avLst>
            </a:prstGeom>
            <a:no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B90F731-5A8E-C443-D445-275EECBC8294}"/>
                </a:ext>
              </a:extLst>
            </p:cNvPr>
            <p:cNvSpPr txBox="1"/>
            <p:nvPr/>
          </p:nvSpPr>
          <p:spPr>
            <a:xfrm>
              <a:off x="648171" y="1781527"/>
              <a:ext cx="13116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/>
                <a:t>类名</a:t>
              </a:r>
              <a:r>
                <a:rPr lang="en-US" altLang="zh-CN" sz="3200" b="1" dirty="0"/>
                <a:t>: </a:t>
              </a:r>
              <a:r>
                <a:rPr lang="zh-CN" altLang="en-US" sz="3200" b="1" dirty="0"/>
                <a:t>鸟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D2409A-35C8-C989-BB69-29BF9ED904B7}"/>
                </a:ext>
              </a:extLst>
            </p:cNvPr>
            <p:cNvSpPr/>
            <p:nvPr/>
          </p:nvSpPr>
          <p:spPr>
            <a:xfrm>
              <a:off x="618834" y="2432562"/>
              <a:ext cx="3162580" cy="138406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 dirty="0">
                  <a:solidFill>
                    <a:schemeClr val="tx1"/>
                  </a:solidFill>
                </a:rPr>
                <a:t>鸟</a:t>
              </a:r>
              <a:r>
                <a:rPr lang="en-US" altLang="zh-CN" b="1" dirty="0">
                  <a:solidFill>
                    <a:schemeClr val="tx1"/>
                  </a:solidFill>
                </a:rPr>
                <a:t>.</a:t>
              </a:r>
              <a:r>
                <a:rPr lang="zh-CN" altLang="en-US" b="1" dirty="0">
                  <a:solidFill>
                    <a:schemeClr val="tx1"/>
                  </a:solidFill>
                </a:rPr>
                <a:t>长度 </a:t>
              </a:r>
              <a:r>
                <a:rPr lang="en-US" altLang="zh-CN" b="1" dirty="0">
                  <a:solidFill>
                    <a:schemeClr val="tx1"/>
                  </a:solidFill>
                </a:rPr>
                <a:t>= </a:t>
              </a:r>
              <a:r>
                <a:rPr lang="zh-CN" altLang="en-US" b="1" dirty="0">
                  <a:solidFill>
                    <a:schemeClr val="tx1"/>
                  </a:solidFill>
                </a:rPr>
                <a:t>？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r>
                <a:rPr lang="zh-CN" altLang="en-US" b="1" dirty="0">
                  <a:solidFill>
                    <a:schemeClr val="tx1"/>
                  </a:solidFill>
                </a:rPr>
                <a:t>鸟</a:t>
              </a:r>
              <a:r>
                <a:rPr lang="en-US" altLang="zh-CN" b="1" dirty="0">
                  <a:solidFill>
                    <a:schemeClr val="tx1"/>
                  </a:solidFill>
                </a:rPr>
                <a:t>.</a:t>
              </a:r>
              <a:r>
                <a:rPr lang="zh-CN" altLang="en-US" b="1" dirty="0">
                  <a:solidFill>
                    <a:schemeClr val="tx1"/>
                  </a:solidFill>
                </a:rPr>
                <a:t>体重 </a:t>
              </a:r>
              <a:r>
                <a:rPr lang="en-US" altLang="zh-CN" b="1" dirty="0">
                  <a:solidFill>
                    <a:schemeClr val="tx1"/>
                  </a:solidFill>
                </a:rPr>
                <a:t>= </a:t>
              </a:r>
              <a:r>
                <a:rPr lang="zh-CN" altLang="en-US" b="1" dirty="0">
                  <a:solidFill>
                    <a:schemeClr val="tx1"/>
                  </a:solidFill>
                </a:rPr>
                <a:t>？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r>
                <a:rPr lang="zh-CN" altLang="en-US" b="1" dirty="0">
                  <a:solidFill>
                    <a:schemeClr val="tx1"/>
                  </a:solidFill>
                </a:rPr>
                <a:t>鸟</a:t>
              </a:r>
              <a:r>
                <a:rPr lang="en-US" altLang="zh-CN" b="1" dirty="0">
                  <a:solidFill>
                    <a:schemeClr val="tx1"/>
                  </a:solidFill>
                </a:rPr>
                <a:t>.</a:t>
              </a:r>
              <a:r>
                <a:rPr lang="zh-CN" altLang="en-US" b="1" dirty="0">
                  <a:solidFill>
                    <a:schemeClr val="tx1"/>
                  </a:solidFill>
                </a:rPr>
                <a:t>颜色 </a:t>
              </a:r>
              <a:r>
                <a:rPr lang="en-US" altLang="zh-CN" b="1" dirty="0">
                  <a:solidFill>
                    <a:schemeClr val="tx1"/>
                  </a:solidFill>
                </a:rPr>
                <a:t>= </a:t>
              </a:r>
              <a:r>
                <a:rPr lang="zh-CN" altLang="en-US" b="1" dirty="0">
                  <a:solidFill>
                    <a:schemeClr val="tx1"/>
                  </a:solidFill>
                </a:rPr>
                <a:t>？</a:t>
              </a:r>
              <a:endParaRPr lang="en-US" altLang="zh-CN" b="1" dirty="0">
                <a:solidFill>
                  <a:schemeClr val="tx1"/>
                </a:solidFill>
              </a:endParaRPr>
            </a:p>
            <a:p>
              <a:r>
                <a:rPr lang="zh-CN" altLang="en-US" b="1" dirty="0">
                  <a:solidFill>
                    <a:schemeClr val="tx1"/>
                  </a:solidFill>
                </a:rPr>
                <a:t>鸟</a:t>
              </a:r>
              <a:r>
                <a:rPr lang="en-US" altLang="zh-CN" b="1" dirty="0">
                  <a:solidFill>
                    <a:schemeClr val="tx1"/>
                  </a:solidFill>
                </a:rPr>
                <a:t>.</a:t>
              </a:r>
              <a:r>
                <a:rPr lang="zh-CN" altLang="en-US" b="1" dirty="0">
                  <a:solidFill>
                    <a:schemeClr val="tx1"/>
                  </a:solidFill>
                </a:rPr>
                <a:t>毛发 </a:t>
              </a:r>
              <a:r>
                <a:rPr lang="en-US" altLang="zh-CN" b="1" dirty="0">
                  <a:solidFill>
                    <a:schemeClr val="tx1"/>
                  </a:solidFill>
                </a:rPr>
                <a:t>= </a:t>
              </a:r>
              <a:r>
                <a:rPr lang="zh-CN" altLang="en-US" b="1" dirty="0">
                  <a:solidFill>
                    <a:schemeClr val="tx1"/>
                  </a:solidFill>
                </a:rPr>
                <a:t>多</a:t>
              </a:r>
              <a:r>
                <a:rPr lang="en-US" altLang="zh-CN" b="1" dirty="0">
                  <a:solidFill>
                    <a:schemeClr val="tx1"/>
                  </a:solidFill>
                </a:rPr>
                <a:t>/</a:t>
              </a:r>
              <a:r>
                <a:rPr lang="zh-CN" altLang="en-US" b="1" dirty="0">
                  <a:solidFill>
                    <a:schemeClr val="tx1"/>
                  </a:solidFill>
                </a:rPr>
                <a:t>少？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768C01F-9200-BFA8-0C8E-8DCD1E193BE5}"/>
                </a:ext>
              </a:extLst>
            </p:cNvPr>
            <p:cNvSpPr/>
            <p:nvPr/>
          </p:nvSpPr>
          <p:spPr>
            <a:xfrm>
              <a:off x="618834" y="4030338"/>
              <a:ext cx="3162580" cy="138406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>
                  <a:solidFill>
                    <a:schemeClr val="tx1"/>
                  </a:solidFill>
                </a:rPr>
                <a:t>def </a:t>
              </a:r>
              <a:r>
                <a:rPr lang="zh-CN" altLang="en-US" b="1" dirty="0">
                  <a:solidFill>
                    <a:schemeClr val="tx1"/>
                  </a:solidFill>
                </a:rPr>
                <a:t>开始起飞</a:t>
              </a:r>
              <a:r>
                <a:rPr lang="en-US" altLang="zh-CN" b="1" dirty="0">
                  <a:solidFill>
                    <a:schemeClr val="tx1"/>
                  </a:solidFill>
                </a:rPr>
                <a:t>(…)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def </a:t>
              </a:r>
              <a:r>
                <a:rPr lang="zh-CN" altLang="en-US" b="1" dirty="0">
                  <a:solidFill>
                    <a:schemeClr val="tx1"/>
                  </a:solidFill>
                </a:rPr>
                <a:t>要睡觉了</a:t>
              </a:r>
              <a:r>
                <a:rPr lang="en-US" altLang="zh-CN" b="1" dirty="0">
                  <a:solidFill>
                    <a:schemeClr val="tx1"/>
                  </a:solidFill>
                </a:rPr>
                <a:t>(…)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def </a:t>
              </a:r>
              <a:r>
                <a:rPr lang="zh-CN" altLang="en-US" b="1" dirty="0">
                  <a:solidFill>
                    <a:schemeClr val="tx1"/>
                  </a:solidFill>
                </a:rPr>
                <a:t>赶紧干饭</a:t>
              </a:r>
              <a:r>
                <a:rPr lang="en-US" altLang="zh-CN" b="1" dirty="0">
                  <a:solidFill>
                    <a:schemeClr val="tx1"/>
                  </a:solidFill>
                </a:rPr>
                <a:t>(…)</a:t>
              </a:r>
            </a:p>
            <a:p>
              <a:r>
                <a:rPr lang="en-US" altLang="zh-CN" b="1" dirty="0">
                  <a:solidFill>
                    <a:schemeClr val="tx1"/>
                  </a:solidFill>
                </a:rPr>
                <a:t>def </a:t>
              </a:r>
              <a:r>
                <a:rPr lang="zh-CN" altLang="en-US" b="1" dirty="0">
                  <a:solidFill>
                    <a:schemeClr val="tx1"/>
                  </a:solidFill>
                </a:rPr>
                <a:t>被人炖了</a:t>
              </a:r>
              <a:r>
                <a:rPr lang="en-US" altLang="zh-CN" b="1" dirty="0">
                  <a:solidFill>
                    <a:schemeClr val="tx1"/>
                  </a:solidFill>
                </a:rPr>
                <a:t>(…)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9EB52D1-71D3-C09C-3091-86A9ADE97A27}"/>
                </a:ext>
              </a:extLst>
            </p:cNvPr>
            <p:cNvSpPr txBox="1"/>
            <p:nvPr/>
          </p:nvSpPr>
          <p:spPr>
            <a:xfrm>
              <a:off x="2227306" y="2649391"/>
              <a:ext cx="151138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endPara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(Attributes)</a:t>
              </a:r>
              <a:endPara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BEE6DD0-13AA-BE81-B6C7-391CF906A2F8}"/>
                </a:ext>
              </a:extLst>
            </p:cNvPr>
            <p:cNvSpPr txBox="1"/>
            <p:nvPr/>
          </p:nvSpPr>
          <p:spPr>
            <a:xfrm>
              <a:off x="2227306" y="4226368"/>
              <a:ext cx="151138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en-US" altLang="zh-CN" sz="32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(Methods)</a:t>
              </a:r>
              <a:endPara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A669ECF-7F48-74F5-A64D-D2FEDE533E1F}"/>
              </a:ext>
            </a:extLst>
          </p:cNvPr>
          <p:cNvGrpSpPr/>
          <p:nvPr/>
        </p:nvGrpSpPr>
        <p:grpSpPr>
          <a:xfrm>
            <a:off x="7215809" y="1080050"/>
            <a:ext cx="4731026" cy="2445026"/>
            <a:chOff x="7215809" y="894522"/>
            <a:chExt cx="4731026" cy="244502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50698B7-69D9-0533-95B0-7170C782C74A}"/>
                </a:ext>
              </a:extLst>
            </p:cNvPr>
            <p:cNvSpPr/>
            <p:nvPr/>
          </p:nvSpPr>
          <p:spPr>
            <a:xfrm>
              <a:off x="9689992" y="1528274"/>
              <a:ext cx="2105628" cy="17263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2C14D25-C406-F069-9316-CE76B82D80BD}"/>
                </a:ext>
              </a:extLst>
            </p:cNvPr>
            <p:cNvSpPr/>
            <p:nvPr/>
          </p:nvSpPr>
          <p:spPr>
            <a:xfrm>
              <a:off x="7373475" y="1528273"/>
              <a:ext cx="2143536" cy="17263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7696D49-899D-BDB0-D029-8C42C0F4A6D5}"/>
                </a:ext>
              </a:extLst>
            </p:cNvPr>
            <p:cNvSpPr/>
            <p:nvPr/>
          </p:nvSpPr>
          <p:spPr>
            <a:xfrm>
              <a:off x="7373475" y="1005053"/>
              <a:ext cx="4422145" cy="453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A1F9A8D-6E87-9361-6B05-00197057E0F7}"/>
                </a:ext>
              </a:extLst>
            </p:cNvPr>
            <p:cNvSpPr/>
            <p:nvPr/>
          </p:nvSpPr>
          <p:spPr>
            <a:xfrm>
              <a:off x="7215809" y="894522"/>
              <a:ext cx="4731026" cy="2445026"/>
            </a:xfrm>
            <a:prstGeom prst="roundRect">
              <a:avLst>
                <a:gd name="adj" fmla="val 8307"/>
              </a:avLst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053B357-3BBA-92E5-B54C-2E04D11FE063}"/>
                </a:ext>
              </a:extLst>
            </p:cNvPr>
            <p:cNvSpPr txBox="1"/>
            <p:nvPr/>
          </p:nvSpPr>
          <p:spPr>
            <a:xfrm>
              <a:off x="7367144" y="1007148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变量名：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红鸟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EE40388-5E19-A03A-D90C-2E4051C68296}"/>
                </a:ext>
              </a:extLst>
            </p:cNvPr>
            <p:cNvSpPr txBox="1"/>
            <p:nvPr/>
          </p:nvSpPr>
          <p:spPr>
            <a:xfrm>
              <a:off x="7439735" y="1951665"/>
              <a:ext cx="2020105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红鸟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长度 </a:t>
              </a:r>
              <a:r>
                <a:rPr lang="en-US" altLang="zh-CN" sz="2000" b="1" dirty="0"/>
                <a:t>= 15</a:t>
              </a:r>
            </a:p>
            <a:p>
              <a:r>
                <a:rPr lang="zh-CN" altLang="en-US" sz="2000" b="1" dirty="0"/>
                <a:t>红鸟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体重 </a:t>
              </a:r>
              <a:r>
                <a:rPr lang="en-US" altLang="zh-CN" sz="2000" b="1" dirty="0"/>
                <a:t>= 500</a:t>
              </a:r>
            </a:p>
            <a:p>
              <a:r>
                <a:rPr lang="zh-CN" altLang="en-US" sz="2000" b="1" dirty="0"/>
                <a:t>红鸟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颜色 </a:t>
              </a:r>
              <a:r>
                <a:rPr lang="en-US" altLang="zh-CN" sz="2000" b="1" dirty="0"/>
                <a:t>= </a:t>
              </a:r>
              <a:r>
                <a:rPr lang="zh-CN" altLang="en-US" sz="2000" b="1" dirty="0"/>
                <a:t>红</a:t>
              </a:r>
              <a:endParaRPr lang="en-US" altLang="zh-CN" sz="2000" b="1" dirty="0"/>
            </a:p>
            <a:p>
              <a:r>
                <a:rPr lang="zh-CN" altLang="en-US" sz="2000" b="1" dirty="0"/>
                <a:t>红鸟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毛发 </a:t>
              </a:r>
              <a:r>
                <a:rPr lang="en-US" altLang="zh-CN" sz="2000" b="1" dirty="0"/>
                <a:t>= </a:t>
              </a:r>
              <a:r>
                <a:rPr lang="zh-CN" altLang="en-US" sz="2000" b="1" dirty="0"/>
                <a:t>多</a:t>
              </a:r>
              <a:endParaRPr lang="en-US" altLang="zh-CN" sz="2000" b="1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75A305D-F919-FF8D-2608-057BDF5EA461}"/>
                </a:ext>
              </a:extLst>
            </p:cNvPr>
            <p:cNvSpPr txBox="1"/>
            <p:nvPr/>
          </p:nvSpPr>
          <p:spPr>
            <a:xfrm>
              <a:off x="9652084" y="1931184"/>
              <a:ext cx="2143536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红鸟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开始起飞</a:t>
              </a:r>
              <a:r>
                <a:rPr lang="en-US" altLang="zh-CN" sz="2000" b="1" dirty="0"/>
                <a:t>(…)</a:t>
              </a:r>
            </a:p>
            <a:p>
              <a:r>
                <a:rPr lang="zh-CN" altLang="en-US" sz="2000" b="1" dirty="0"/>
                <a:t>红鸟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要睡觉了</a:t>
              </a:r>
              <a:r>
                <a:rPr lang="en-US" altLang="zh-CN" sz="2000" b="1" dirty="0"/>
                <a:t>(…)</a:t>
              </a:r>
            </a:p>
            <a:p>
              <a:r>
                <a:rPr lang="zh-CN" altLang="en-US" sz="2000" b="1" dirty="0"/>
                <a:t>红鸟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赶紧干饭</a:t>
              </a:r>
              <a:r>
                <a:rPr lang="en-US" altLang="zh-CN" sz="2000" b="1" dirty="0"/>
                <a:t>(…)</a:t>
              </a:r>
            </a:p>
            <a:p>
              <a:r>
                <a:rPr lang="zh-CN" altLang="en-US" sz="2000" b="1" dirty="0"/>
                <a:t>红鸟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被人炖了</a:t>
              </a:r>
              <a:r>
                <a:rPr lang="en-US" altLang="zh-CN" sz="2000" b="1" dirty="0"/>
                <a:t>(…)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576D8AD-77C0-6785-993A-139FF1960ADC}"/>
                </a:ext>
              </a:extLst>
            </p:cNvPr>
            <p:cNvSpPr txBox="1"/>
            <p:nvPr/>
          </p:nvSpPr>
          <p:spPr>
            <a:xfrm>
              <a:off x="9809260" y="1038183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标识 </a:t>
              </a:r>
              <a:r>
                <a:rPr lang="en-US" altLang="zh-CN" sz="2000" b="1" dirty="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(Identity)</a:t>
              </a:r>
              <a:endPara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BEE8C6E-AA19-CBE3-28D1-DEA918A90C66}"/>
                </a:ext>
              </a:extLst>
            </p:cNvPr>
            <p:cNvSpPr txBox="1"/>
            <p:nvPr/>
          </p:nvSpPr>
          <p:spPr>
            <a:xfrm>
              <a:off x="7636231" y="1546143"/>
              <a:ext cx="1627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 </a:t>
              </a: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(State)</a:t>
              </a:r>
              <a:endPara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5B95941-15ED-855C-3835-2F486DA6149C}"/>
                </a:ext>
              </a:extLst>
            </p:cNvPr>
            <p:cNvSpPr txBox="1"/>
            <p:nvPr/>
          </p:nvSpPr>
          <p:spPr>
            <a:xfrm>
              <a:off x="9689992" y="1546143"/>
              <a:ext cx="21098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 </a:t>
              </a:r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(Behavior)</a:t>
              </a:r>
              <a:endPara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905BD37-59E1-8D32-117F-9AAF180D3C30}"/>
              </a:ext>
            </a:extLst>
          </p:cNvPr>
          <p:cNvGrpSpPr/>
          <p:nvPr/>
        </p:nvGrpSpPr>
        <p:grpSpPr>
          <a:xfrm>
            <a:off x="7218652" y="3965396"/>
            <a:ext cx="4731026" cy="2445026"/>
            <a:chOff x="7215809" y="894522"/>
            <a:chExt cx="4731026" cy="244502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1B7FBF6-B15C-F5DF-A6A5-ACA4487ECDB4}"/>
                </a:ext>
              </a:extLst>
            </p:cNvPr>
            <p:cNvSpPr/>
            <p:nvPr/>
          </p:nvSpPr>
          <p:spPr>
            <a:xfrm>
              <a:off x="9689992" y="1528274"/>
              <a:ext cx="2105628" cy="17263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ADE80F6-65C8-E3C7-F3BE-B3C44AC1CCD9}"/>
                </a:ext>
              </a:extLst>
            </p:cNvPr>
            <p:cNvSpPr/>
            <p:nvPr/>
          </p:nvSpPr>
          <p:spPr>
            <a:xfrm>
              <a:off x="7373475" y="1528273"/>
              <a:ext cx="2143536" cy="17263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E0B10F5-DC8B-97BF-B452-F6A50ECF7A00}"/>
                </a:ext>
              </a:extLst>
            </p:cNvPr>
            <p:cNvSpPr/>
            <p:nvPr/>
          </p:nvSpPr>
          <p:spPr>
            <a:xfrm>
              <a:off x="7373475" y="1005053"/>
              <a:ext cx="4422145" cy="453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99E21DBB-F9DD-AB83-7E6B-1F77CE1C3360}"/>
                </a:ext>
              </a:extLst>
            </p:cNvPr>
            <p:cNvSpPr/>
            <p:nvPr/>
          </p:nvSpPr>
          <p:spPr>
            <a:xfrm>
              <a:off x="7215809" y="894522"/>
              <a:ext cx="4731026" cy="2445026"/>
            </a:xfrm>
            <a:prstGeom prst="roundRect">
              <a:avLst>
                <a:gd name="adj" fmla="val 8307"/>
              </a:avLst>
            </a:prstGeom>
            <a:noFill/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72E98B6-588A-30DB-3863-C2EB0D17D7F3}"/>
                </a:ext>
              </a:extLst>
            </p:cNvPr>
            <p:cNvSpPr txBox="1"/>
            <p:nvPr/>
          </p:nvSpPr>
          <p:spPr>
            <a:xfrm>
              <a:off x="7367144" y="1007148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/>
                <a:t>变量名：</a:t>
              </a:r>
              <a:r>
                <a:rPr lang="zh-CN" altLang="en-US" sz="2400" b="1" dirty="0">
                  <a:solidFill>
                    <a:schemeClr val="accent5"/>
                  </a:solidFill>
                </a:rPr>
                <a:t>紫鸟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08DF0B4-4B4A-BDE0-79CF-643404018ACB}"/>
                </a:ext>
              </a:extLst>
            </p:cNvPr>
            <p:cNvSpPr txBox="1"/>
            <p:nvPr/>
          </p:nvSpPr>
          <p:spPr>
            <a:xfrm>
              <a:off x="7439735" y="1951665"/>
              <a:ext cx="2020105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紫鸟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长度 </a:t>
              </a:r>
              <a:r>
                <a:rPr lang="en-US" altLang="zh-CN" sz="2000" b="1" dirty="0"/>
                <a:t>= 20</a:t>
              </a:r>
            </a:p>
            <a:p>
              <a:r>
                <a:rPr lang="zh-CN" altLang="en-US" sz="2000" b="1" dirty="0"/>
                <a:t>紫鸟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体重 </a:t>
              </a:r>
              <a:r>
                <a:rPr lang="en-US" altLang="zh-CN" sz="2000" b="1" dirty="0"/>
                <a:t>= 750</a:t>
              </a:r>
            </a:p>
            <a:p>
              <a:r>
                <a:rPr lang="zh-CN" altLang="en-US" sz="2000" b="1" dirty="0"/>
                <a:t>紫鸟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颜色 </a:t>
              </a:r>
              <a:r>
                <a:rPr lang="en-US" altLang="zh-CN" sz="2000" b="1" dirty="0"/>
                <a:t>= </a:t>
              </a:r>
              <a:r>
                <a:rPr lang="zh-CN" altLang="en-US" sz="2000" b="1" dirty="0"/>
                <a:t>紫</a:t>
              </a:r>
              <a:endParaRPr lang="en-US" altLang="zh-CN" sz="2000" b="1" dirty="0"/>
            </a:p>
            <a:p>
              <a:r>
                <a:rPr lang="zh-CN" altLang="en-US" sz="2000" b="1" dirty="0"/>
                <a:t>紫鸟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毛发 </a:t>
              </a:r>
              <a:r>
                <a:rPr lang="en-US" altLang="zh-CN" sz="2000" b="1" dirty="0"/>
                <a:t>= </a:t>
              </a:r>
              <a:r>
                <a:rPr lang="zh-CN" altLang="en-US" sz="2000" b="1" dirty="0"/>
                <a:t>少</a:t>
              </a:r>
              <a:endParaRPr lang="en-US" altLang="zh-CN" sz="2000" b="1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E4ABF31-E691-F79A-3DBD-587809F693D5}"/>
                </a:ext>
              </a:extLst>
            </p:cNvPr>
            <p:cNvSpPr txBox="1"/>
            <p:nvPr/>
          </p:nvSpPr>
          <p:spPr>
            <a:xfrm>
              <a:off x="9652084" y="1931184"/>
              <a:ext cx="2143536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紫鸟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开始起飞</a:t>
              </a:r>
              <a:r>
                <a:rPr lang="en-US" altLang="zh-CN" sz="2000" b="1" dirty="0"/>
                <a:t>(…)</a:t>
              </a:r>
            </a:p>
            <a:p>
              <a:r>
                <a:rPr lang="zh-CN" altLang="en-US" sz="2000" b="1" dirty="0"/>
                <a:t>紫鸟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要睡觉了</a:t>
              </a:r>
              <a:r>
                <a:rPr lang="en-US" altLang="zh-CN" sz="2000" b="1" dirty="0"/>
                <a:t>(…)</a:t>
              </a:r>
            </a:p>
            <a:p>
              <a:r>
                <a:rPr lang="zh-CN" altLang="en-US" sz="2000" b="1" dirty="0"/>
                <a:t>紫鸟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赶紧干饭</a:t>
              </a:r>
              <a:r>
                <a:rPr lang="en-US" altLang="zh-CN" sz="2000" b="1" dirty="0"/>
                <a:t>(…)</a:t>
              </a:r>
            </a:p>
            <a:p>
              <a:r>
                <a:rPr lang="zh-CN" altLang="en-US" sz="2000" b="1" dirty="0"/>
                <a:t>紫鸟</a:t>
              </a:r>
              <a:r>
                <a:rPr lang="en-US" altLang="zh-CN" sz="2000" b="1" dirty="0"/>
                <a:t>.</a:t>
              </a:r>
              <a:r>
                <a:rPr lang="zh-CN" altLang="en-US" sz="2000" b="1" dirty="0"/>
                <a:t>被人炖了</a:t>
              </a:r>
              <a:r>
                <a:rPr lang="en-US" altLang="zh-CN" sz="2000" b="1" dirty="0"/>
                <a:t>(…)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A9BBBB4-AB6A-4D4F-CA52-72EE5DDE09A7}"/>
                </a:ext>
              </a:extLst>
            </p:cNvPr>
            <p:cNvSpPr txBox="1"/>
            <p:nvPr/>
          </p:nvSpPr>
          <p:spPr>
            <a:xfrm>
              <a:off x="9809260" y="1038183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标识 </a:t>
              </a:r>
              <a:r>
                <a:rPr lang="en-US" altLang="zh-CN" sz="2000" b="1" dirty="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(Identity)</a:t>
              </a:r>
              <a:endParaRPr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AF203D4-03C0-ED7A-1434-CBF472DAD3AB}"/>
                </a:ext>
              </a:extLst>
            </p:cNvPr>
            <p:cNvSpPr txBox="1"/>
            <p:nvPr/>
          </p:nvSpPr>
          <p:spPr>
            <a:xfrm>
              <a:off x="7636231" y="1546143"/>
              <a:ext cx="16271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 </a:t>
              </a:r>
              <a:r>
                <a:rPr lang="en-US" altLang="zh-CN" sz="20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(State)</a:t>
              </a:r>
              <a:endPara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A8F348D-A246-5648-309E-02AFB90B9E0D}"/>
                </a:ext>
              </a:extLst>
            </p:cNvPr>
            <p:cNvSpPr txBox="1"/>
            <p:nvPr/>
          </p:nvSpPr>
          <p:spPr>
            <a:xfrm>
              <a:off x="9689992" y="1546143"/>
              <a:ext cx="21098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 </a:t>
              </a:r>
              <a:r>
                <a:rPr lang="en-US" altLang="zh-CN" sz="20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(Behavior)</a:t>
              </a:r>
              <a:endPara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29F1C278-9E3C-7AEB-EDA1-B2F31C1B9BD0}"/>
              </a:ext>
            </a:extLst>
          </p:cNvPr>
          <p:cNvSpPr txBox="1"/>
          <p:nvPr/>
        </p:nvSpPr>
        <p:spPr>
          <a:xfrm>
            <a:off x="4677814" y="2465858"/>
            <a:ext cx="2375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红鸟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鸟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(…)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EDBC964-218F-9871-0683-5845FBD0452E}"/>
              </a:ext>
            </a:extLst>
          </p:cNvPr>
          <p:cNvSpPr txBox="1"/>
          <p:nvPr/>
        </p:nvSpPr>
        <p:spPr>
          <a:xfrm>
            <a:off x="4677814" y="4495343"/>
            <a:ext cx="23759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紫鸟 </a:t>
            </a:r>
            <a:r>
              <a:rPr lang="en-US" altLang="zh-CN" sz="2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鸟</a:t>
            </a:r>
            <a:r>
              <a:rPr lang="en-US" altLang="zh-CN" sz="2800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(…)</a:t>
            </a:r>
            <a:endParaRPr lang="zh-CN" altLang="en-US" sz="2800" b="1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3578D27-56DD-CE06-F906-0716832F0EF7}"/>
              </a:ext>
            </a:extLst>
          </p:cNvPr>
          <p:cNvSpPr/>
          <p:nvPr/>
        </p:nvSpPr>
        <p:spPr>
          <a:xfrm>
            <a:off x="4755403" y="914850"/>
            <a:ext cx="2141932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实例化</a:t>
            </a:r>
            <a:endParaRPr lang="en-US" altLang="zh-CN" sz="28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28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(instantiate)</a:t>
            </a:r>
            <a:endParaRPr lang="zh-CN" altLang="en-US" sz="28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698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E15A1585-E118-0719-E235-F72750ED6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48" y="3202848"/>
            <a:ext cx="5393372" cy="223318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415D4A6-3D02-5BC1-031F-40F029E26D36}"/>
              </a:ext>
            </a:extLst>
          </p:cNvPr>
          <p:cNvSpPr/>
          <p:nvPr/>
        </p:nvSpPr>
        <p:spPr>
          <a:xfrm>
            <a:off x="203254" y="154635"/>
            <a:ext cx="526297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类与对象的定义、构造器</a:t>
            </a:r>
            <a:endParaRPr lang="zh-CN" altLang="en-US" sz="3600" b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F6661F-174D-1CA5-DB14-A9EC2A9FD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62" y="1647586"/>
            <a:ext cx="5559042" cy="38123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51C95F-FF5C-A958-8DE2-85895D1AD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48" y="2083701"/>
            <a:ext cx="5428571" cy="410564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39A26F6-106E-F203-58B0-355BFD5AE8B4}"/>
              </a:ext>
            </a:extLst>
          </p:cNvPr>
          <p:cNvSpPr/>
          <p:nvPr/>
        </p:nvSpPr>
        <p:spPr>
          <a:xfrm>
            <a:off x="7951594" y="331797"/>
            <a:ext cx="3504910" cy="911370"/>
          </a:xfrm>
          <a:prstGeom prst="roundRect">
            <a:avLst>
              <a:gd name="adj" fmla="val 1293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__init__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初始化对象。 本质上是实例化的时候（创建对象）需要执行的函数。</a:t>
            </a:r>
          </a:p>
        </p:txBody>
      </p:sp>
      <p:sp>
        <p:nvSpPr>
          <p:cNvPr id="11" name="箭头: 手杖形 10">
            <a:extLst>
              <a:ext uri="{FF2B5EF4-FFF2-40B4-BE49-F238E27FC236}">
                <a16:creationId xmlns:a16="http://schemas.microsoft.com/office/drawing/2014/main" id="{0C0A600C-D3E6-65D8-3A23-EC76BB7FF81A}"/>
              </a:ext>
            </a:extLst>
          </p:cNvPr>
          <p:cNvSpPr/>
          <p:nvPr/>
        </p:nvSpPr>
        <p:spPr>
          <a:xfrm flipH="1">
            <a:off x="1921565" y="1375098"/>
            <a:ext cx="6407426" cy="646331"/>
          </a:xfrm>
          <a:prstGeom prst="utur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04FFF8-5D61-7097-E3F1-AE6C8ECE269A}"/>
              </a:ext>
            </a:extLst>
          </p:cNvPr>
          <p:cNvSpPr txBox="1"/>
          <p:nvPr/>
        </p:nvSpPr>
        <p:spPr>
          <a:xfrm>
            <a:off x="311135" y="1073454"/>
            <a:ext cx="13388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定义一个类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9E55E3-9457-C1B6-AB93-94D4431CD67D}"/>
              </a:ext>
            </a:extLst>
          </p:cNvPr>
          <p:cNvSpPr txBox="1"/>
          <p:nvPr/>
        </p:nvSpPr>
        <p:spPr>
          <a:xfrm>
            <a:off x="6473948" y="1647586"/>
            <a:ext cx="1569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创建一个对象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F3971F-CA60-B06F-BCBD-23F38616F954}"/>
              </a:ext>
            </a:extLst>
          </p:cNvPr>
          <p:cNvSpPr txBox="1"/>
          <p:nvPr/>
        </p:nvSpPr>
        <p:spPr>
          <a:xfrm>
            <a:off x="6473948" y="2651070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使用方法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519D25-2D58-3899-0483-07BED43033E7}"/>
              </a:ext>
            </a:extLst>
          </p:cNvPr>
          <p:cNvSpPr txBox="1"/>
          <p:nvPr/>
        </p:nvSpPr>
        <p:spPr>
          <a:xfrm>
            <a:off x="6139070" y="5684687"/>
            <a:ext cx="5728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/>
              <a:t>xiao_ming.name</a:t>
            </a:r>
            <a:r>
              <a:rPr lang="zh-CN" altLang="en-US" b="1" dirty="0"/>
              <a:t>本质上是个变量，直接使用即可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 err="1"/>
              <a:t>xiao_ming.is_adult</a:t>
            </a:r>
            <a:r>
              <a:rPr lang="zh-CN" altLang="en-US" b="1" dirty="0"/>
              <a:t>本质上是个函数，要按照函数的方法调用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85735E-2487-993C-4960-400BA7071698}"/>
              </a:ext>
            </a:extLst>
          </p:cNvPr>
          <p:cNvSpPr txBox="1"/>
          <p:nvPr/>
        </p:nvSpPr>
        <p:spPr>
          <a:xfrm>
            <a:off x="311135" y="5652227"/>
            <a:ext cx="5424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Python</a:t>
            </a:r>
            <a:r>
              <a:rPr lang="zh-CN" altLang="en-US" b="1" dirty="0"/>
              <a:t>中，在类中创建的函数的时候，第一个形参设为</a:t>
            </a:r>
            <a:r>
              <a:rPr lang="en-US" altLang="zh-CN" b="1" dirty="0"/>
              <a:t>self</a:t>
            </a:r>
            <a:r>
              <a:rPr lang="zh-CN" altLang="en-US" b="1" dirty="0"/>
              <a:t>（也可以命名为其他名称）。</a:t>
            </a:r>
            <a:r>
              <a:rPr lang="en-US" altLang="zh-CN" b="1" dirty="0"/>
              <a:t>self</a:t>
            </a:r>
            <a:r>
              <a:rPr lang="zh-CN" altLang="en-US" b="1" dirty="0"/>
              <a:t>表示对象本身，实际对象调用的时候不需要传递实参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EC23720-4F7D-5967-715C-05F48B76D7DF}"/>
              </a:ext>
            </a:extLst>
          </p:cNvPr>
          <p:cNvCxnSpPr>
            <a:cxnSpLocks/>
          </p:cNvCxnSpPr>
          <p:nvPr/>
        </p:nvCxnSpPr>
        <p:spPr>
          <a:xfrm flipH="1" flipV="1">
            <a:off x="5466233" y="3890655"/>
            <a:ext cx="910465" cy="23404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2A1617D-1289-25B8-E496-961C2688E571}"/>
              </a:ext>
            </a:extLst>
          </p:cNvPr>
          <p:cNvCxnSpPr>
            <a:cxnSpLocks/>
          </p:cNvCxnSpPr>
          <p:nvPr/>
        </p:nvCxnSpPr>
        <p:spPr>
          <a:xfrm flipH="1" flipV="1">
            <a:off x="3273287" y="4317033"/>
            <a:ext cx="3103411" cy="23404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EFF09E5-03B8-4E78-D0CC-80141D3C4544}"/>
              </a:ext>
            </a:extLst>
          </p:cNvPr>
          <p:cNvCxnSpPr>
            <a:cxnSpLocks/>
          </p:cNvCxnSpPr>
          <p:nvPr/>
        </p:nvCxnSpPr>
        <p:spPr>
          <a:xfrm flipH="1" flipV="1">
            <a:off x="3584713" y="3155036"/>
            <a:ext cx="2791985" cy="57394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31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4C3DD1A-4E81-0A7F-36F4-85138A991082}"/>
              </a:ext>
            </a:extLst>
          </p:cNvPr>
          <p:cNvSpPr/>
          <p:nvPr/>
        </p:nvSpPr>
        <p:spPr>
          <a:xfrm>
            <a:off x="298175" y="1563175"/>
            <a:ext cx="4697897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请自己复写一遍，摸清细节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50EE58B-CDA2-E70A-6571-3B0AB14A1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275" y="0"/>
            <a:ext cx="7099540" cy="68580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BF3E9BF-F284-3FBC-A0FF-0DAE0770BDC0}"/>
              </a:ext>
            </a:extLst>
          </p:cNvPr>
          <p:cNvSpPr/>
          <p:nvPr/>
        </p:nvSpPr>
        <p:spPr>
          <a:xfrm>
            <a:off x="203255" y="154635"/>
            <a:ext cx="389829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36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类与对象的定义、构造器</a:t>
            </a:r>
            <a:endParaRPr lang="zh-CN" altLang="en-US" sz="3600" b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299343-F17E-3E4B-8BD3-95E3A71CEE7C}"/>
              </a:ext>
            </a:extLst>
          </p:cNvPr>
          <p:cNvSpPr txBox="1"/>
          <p:nvPr/>
        </p:nvSpPr>
        <p:spPr>
          <a:xfrm>
            <a:off x="0" y="3156740"/>
            <a:ext cx="5097275" cy="37240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特殊方法名：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spcAft>
                <a:spcPts val="1800"/>
              </a:spcAft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的对象中存在一些官方默认的特殊方法名，它们是默认内置于对象中的，用户可以针对性使用和修改。下述是一些例子。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__init__(self, …)	      -&gt;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对象初始化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__del__(self, …)	      -&gt;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对象销毁（节省资源）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__call__(self, …)	      -&gt;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像函数一样调用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__(self)	      -&gt;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len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__bool__(self)	      -&gt;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支持布尔判断（例如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__(self)	      -&gt;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支持迭代器（例如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__next__(self)	      -&gt;	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iter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组合使用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1832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15D4A6-3D02-5BC1-031F-40F029E26D36}"/>
              </a:ext>
            </a:extLst>
          </p:cNvPr>
          <p:cNvSpPr/>
          <p:nvPr/>
        </p:nvSpPr>
        <p:spPr>
          <a:xfrm>
            <a:off x="203254" y="154635"/>
            <a:ext cx="341632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封装与访问权限</a:t>
            </a:r>
            <a:endParaRPr lang="zh-CN" altLang="en-US" sz="3600" b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1066B09-A801-68E5-5A9B-5DA0C4EF9B54}"/>
              </a:ext>
            </a:extLst>
          </p:cNvPr>
          <p:cNvGrpSpPr/>
          <p:nvPr/>
        </p:nvGrpSpPr>
        <p:grpSpPr>
          <a:xfrm>
            <a:off x="263033" y="1619052"/>
            <a:ext cx="3293165" cy="2464905"/>
            <a:chOff x="264831" y="1851991"/>
            <a:chExt cx="3293165" cy="246490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459F5DD-461E-0035-C4EA-46F8E5D7FC68}"/>
                </a:ext>
              </a:extLst>
            </p:cNvPr>
            <p:cNvSpPr txBox="1"/>
            <p:nvPr/>
          </p:nvSpPr>
          <p:spPr>
            <a:xfrm>
              <a:off x="1159066" y="2160038"/>
              <a:ext cx="64633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查账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C9CEAC3-1FB9-3323-ACA9-A419A937D54B}"/>
                </a:ext>
              </a:extLst>
            </p:cNvPr>
            <p:cNvSpPr txBox="1"/>
            <p:nvPr/>
          </p:nvSpPr>
          <p:spPr>
            <a:xfrm>
              <a:off x="652601" y="2899778"/>
              <a:ext cx="64633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取款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8DEF390-BEC2-51C5-B90A-05809A2A46FE}"/>
                </a:ext>
              </a:extLst>
            </p:cNvPr>
            <p:cNvSpPr txBox="1"/>
            <p:nvPr/>
          </p:nvSpPr>
          <p:spPr>
            <a:xfrm>
              <a:off x="1911414" y="2542911"/>
              <a:ext cx="1338828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交易流水号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9DCE74D-C7D1-CF91-2380-B340B131A3E0}"/>
                </a:ext>
              </a:extLst>
            </p:cNvPr>
            <p:cNvSpPr txBox="1"/>
            <p:nvPr/>
          </p:nvSpPr>
          <p:spPr>
            <a:xfrm>
              <a:off x="1911414" y="3126363"/>
              <a:ext cx="110799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三方存管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7855F40-E10B-0985-BEFE-FFBA49BCBAB9}"/>
                </a:ext>
              </a:extLst>
            </p:cNvPr>
            <p:cNvSpPr txBox="1"/>
            <p:nvPr/>
          </p:nvSpPr>
          <p:spPr>
            <a:xfrm>
              <a:off x="975766" y="3596524"/>
              <a:ext cx="110799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银行开户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E6E1511-BACD-5C19-DCAC-C3F3C8022885}"/>
                </a:ext>
              </a:extLst>
            </p:cNvPr>
            <p:cNvSpPr/>
            <p:nvPr/>
          </p:nvSpPr>
          <p:spPr>
            <a:xfrm>
              <a:off x="264831" y="1851991"/>
              <a:ext cx="3293165" cy="2464905"/>
            </a:xfrm>
            <a:prstGeom prst="ellipse">
              <a:avLst/>
            </a:prstGeom>
            <a:noFill/>
            <a:ln w="381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996A8C6-5A8C-929C-7CB9-DFAD3491D824}"/>
              </a:ext>
            </a:extLst>
          </p:cNvPr>
          <p:cNvSpPr txBox="1"/>
          <p:nvPr/>
        </p:nvSpPr>
        <p:spPr>
          <a:xfrm>
            <a:off x="678510" y="95337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一堆数据、函数</a:t>
            </a:r>
          </a:p>
        </p:txBody>
      </p:sp>
      <p:sp>
        <p:nvSpPr>
          <p:cNvPr id="13" name="卷形: 垂直 12">
            <a:extLst>
              <a:ext uri="{FF2B5EF4-FFF2-40B4-BE49-F238E27FC236}">
                <a16:creationId xmlns:a16="http://schemas.microsoft.com/office/drawing/2014/main" id="{ABA441E9-24DE-FE55-F189-EC2296CA2899}"/>
              </a:ext>
            </a:extLst>
          </p:cNvPr>
          <p:cNvSpPr/>
          <p:nvPr/>
        </p:nvSpPr>
        <p:spPr>
          <a:xfrm>
            <a:off x="5274361" y="1258959"/>
            <a:ext cx="4353343" cy="3114262"/>
          </a:xfrm>
          <a:prstGeom prst="verticalScroll">
            <a:avLst>
              <a:gd name="adj" fmla="val 979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006DCA-2AE1-EE66-15AA-6660B0A31527}"/>
              </a:ext>
            </a:extLst>
          </p:cNvPr>
          <p:cNvSpPr txBox="1"/>
          <p:nvPr/>
        </p:nvSpPr>
        <p:spPr>
          <a:xfrm>
            <a:off x="5673355" y="1668198"/>
            <a:ext cx="236051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class: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银行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self.cash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self.account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self.__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encryptData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self.save_money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self.__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update_log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62F1F187-1EA0-A555-FE1C-2B31FACAA7AC}"/>
              </a:ext>
            </a:extLst>
          </p:cNvPr>
          <p:cNvSpPr/>
          <p:nvPr/>
        </p:nvSpPr>
        <p:spPr>
          <a:xfrm>
            <a:off x="3783496" y="2438403"/>
            <a:ext cx="1610139" cy="6758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8F08E7-BC39-19CA-EFD7-015F6FB8FC86}"/>
              </a:ext>
            </a:extLst>
          </p:cNvPr>
          <p:cNvSpPr/>
          <p:nvPr/>
        </p:nvSpPr>
        <p:spPr>
          <a:xfrm>
            <a:off x="3503447" y="1486125"/>
            <a:ext cx="197041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封装</a:t>
            </a:r>
            <a:endParaRPr lang="en-US" altLang="zh-CN" sz="28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(Encapsulation)</a:t>
            </a:r>
            <a:endParaRPr lang="zh-CN" altLang="en-US" sz="20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19DB86-2282-9F97-33CF-F2BFD06300C1}"/>
              </a:ext>
            </a:extLst>
          </p:cNvPr>
          <p:cNvSpPr txBox="1"/>
          <p:nvPr/>
        </p:nvSpPr>
        <p:spPr>
          <a:xfrm>
            <a:off x="8033873" y="2304156"/>
            <a:ext cx="12875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现金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账户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加密数据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更新日志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3EF962BE-A6DF-CE68-473B-B532B55660C8}"/>
              </a:ext>
            </a:extLst>
          </p:cNvPr>
          <p:cNvSpPr/>
          <p:nvPr/>
        </p:nvSpPr>
        <p:spPr>
          <a:xfrm>
            <a:off x="9585894" y="2652886"/>
            <a:ext cx="881607" cy="4626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F47575-9FC8-5F34-476D-4DA2BEF3B99F}"/>
              </a:ext>
            </a:extLst>
          </p:cNvPr>
          <p:cNvSpPr txBox="1"/>
          <p:nvPr/>
        </p:nvSpPr>
        <p:spPr>
          <a:xfrm>
            <a:off x="10663026" y="1934824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中国银行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3386D2-FD36-5C16-FF6D-6D5E8E70580A}"/>
              </a:ext>
            </a:extLst>
          </p:cNvPr>
          <p:cNvSpPr txBox="1"/>
          <p:nvPr/>
        </p:nvSpPr>
        <p:spPr>
          <a:xfrm>
            <a:off x="10663026" y="2507440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工商银行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CE3A7D-30E1-D070-8A65-2FA948A463AC}"/>
              </a:ext>
            </a:extLst>
          </p:cNvPr>
          <p:cNvSpPr txBox="1"/>
          <p:nvPr/>
        </p:nvSpPr>
        <p:spPr>
          <a:xfrm>
            <a:off x="10663026" y="3078090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建工银行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3C2594-7B76-F6AF-F4DA-AC1E35B96D8A}"/>
              </a:ext>
            </a:extLst>
          </p:cNvPr>
          <p:cNvSpPr txBox="1"/>
          <p:nvPr/>
        </p:nvSpPr>
        <p:spPr>
          <a:xfrm>
            <a:off x="10663026" y="3648740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招商银行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3374A30-13BA-0198-AE5D-FF2F2B7A81D0}"/>
              </a:ext>
            </a:extLst>
          </p:cNvPr>
          <p:cNvSpPr/>
          <p:nvPr/>
        </p:nvSpPr>
        <p:spPr>
          <a:xfrm>
            <a:off x="404191" y="4666633"/>
            <a:ext cx="11366831" cy="19793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1454F2-3734-A8AA-8854-6C54B8A764D4}"/>
              </a:ext>
            </a:extLst>
          </p:cNvPr>
          <p:cNvSpPr txBox="1"/>
          <p:nvPr/>
        </p:nvSpPr>
        <p:spPr>
          <a:xfrm>
            <a:off x="683933" y="4896364"/>
            <a:ext cx="418667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indent="457200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在对象、包或库内，变量、函数名称通常是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公开属性（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，即外部可查看或调用）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。若函数或变量名前加上两个</a:t>
            </a:r>
            <a:r>
              <a:rPr lang="zh-CN" altLang="en-US" b="1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下划线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私有属性（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，即仅供对象、包等的内部使用）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5B8FA0-C9E0-CC98-C463-948B7511D07C}"/>
              </a:ext>
            </a:extLst>
          </p:cNvPr>
          <p:cNvSpPr txBox="1"/>
          <p:nvPr/>
        </p:nvSpPr>
        <p:spPr>
          <a:xfrm>
            <a:off x="5320749" y="4891344"/>
            <a:ext cx="28606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中国银行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.cash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中国银行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save_money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CAAF4F9-646F-53E8-03C3-C48571975411}"/>
              </a:ext>
            </a:extLst>
          </p:cNvPr>
          <p:cNvSpPr txBox="1"/>
          <p:nvPr/>
        </p:nvSpPr>
        <p:spPr>
          <a:xfrm>
            <a:off x="5320749" y="5727361"/>
            <a:ext cx="28606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中国银行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.__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encryptData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中国银行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.__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update_log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卷形: 垂直 28">
            <a:extLst>
              <a:ext uri="{FF2B5EF4-FFF2-40B4-BE49-F238E27FC236}">
                <a16:creationId xmlns:a16="http://schemas.microsoft.com/office/drawing/2014/main" id="{56AF6F85-4743-2E0C-7886-DE7ECAE521F5}"/>
              </a:ext>
            </a:extLst>
          </p:cNvPr>
          <p:cNvSpPr/>
          <p:nvPr/>
        </p:nvSpPr>
        <p:spPr>
          <a:xfrm>
            <a:off x="9939618" y="4890255"/>
            <a:ext cx="1588814" cy="1477328"/>
          </a:xfrm>
          <a:prstGeom prst="verticalScroll">
            <a:avLst>
              <a:gd name="adj" fmla="val 1743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外部程序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C1D4D3E-00BD-5030-9A2C-B3B989C1DC88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181404" y="5214510"/>
            <a:ext cx="1758214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A3499AF-3619-A4AD-EB49-96AD98F0C2D6}"/>
              </a:ext>
            </a:extLst>
          </p:cNvPr>
          <p:cNvCxnSpPr>
            <a:cxnSpLocks/>
          </p:cNvCxnSpPr>
          <p:nvPr/>
        </p:nvCxnSpPr>
        <p:spPr>
          <a:xfrm>
            <a:off x="8181404" y="6023801"/>
            <a:ext cx="1758214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ACBF44DF-4A23-0A32-87B6-631EC91A6542}"/>
              </a:ext>
            </a:extLst>
          </p:cNvPr>
          <p:cNvSpPr txBox="1"/>
          <p:nvPr/>
        </p:nvSpPr>
        <p:spPr>
          <a:xfrm>
            <a:off x="5973705" y="746109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整合为一个或多个类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DB45862-7E16-5FE3-1909-7CAC7C241930}"/>
              </a:ext>
            </a:extLst>
          </p:cNvPr>
          <p:cNvSpPr txBox="1"/>
          <p:nvPr/>
        </p:nvSpPr>
        <p:spPr>
          <a:xfrm>
            <a:off x="8474021" y="4780575"/>
            <a:ext cx="471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accent6"/>
                </a:solidFill>
              </a:rPr>
              <a:t>✔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7F7AC9E-BE70-46C6-5123-5AD16238EF41}"/>
              </a:ext>
            </a:extLst>
          </p:cNvPr>
          <p:cNvSpPr txBox="1"/>
          <p:nvPr/>
        </p:nvSpPr>
        <p:spPr>
          <a:xfrm>
            <a:off x="8879527" y="48419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公开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8F1F9A9-AA67-8D0E-EDFD-0A3AA7AE39D2}"/>
              </a:ext>
            </a:extLst>
          </p:cNvPr>
          <p:cNvSpPr/>
          <p:nvPr/>
        </p:nvSpPr>
        <p:spPr>
          <a:xfrm>
            <a:off x="8567531" y="5921205"/>
            <a:ext cx="985233" cy="201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72620B8-1622-023E-887D-099F93CA7339}"/>
              </a:ext>
            </a:extLst>
          </p:cNvPr>
          <p:cNvSpPr txBox="1"/>
          <p:nvPr/>
        </p:nvSpPr>
        <p:spPr>
          <a:xfrm>
            <a:off x="8879527" y="56835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8819571-96AB-905F-20BA-E45F21EBDFF6}"/>
              </a:ext>
            </a:extLst>
          </p:cNvPr>
          <p:cNvSpPr txBox="1"/>
          <p:nvPr/>
        </p:nvSpPr>
        <p:spPr>
          <a:xfrm>
            <a:off x="8516771" y="56095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✘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E67B03B-A810-A739-D78A-63208667CB23}"/>
              </a:ext>
            </a:extLst>
          </p:cNvPr>
          <p:cNvSpPr txBox="1"/>
          <p:nvPr/>
        </p:nvSpPr>
        <p:spPr>
          <a:xfrm>
            <a:off x="8368936" y="604287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禁止外部访问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FA75D50-791C-20B7-C882-1E00EE83649A}"/>
              </a:ext>
            </a:extLst>
          </p:cNvPr>
          <p:cNvSpPr txBox="1"/>
          <p:nvPr/>
        </p:nvSpPr>
        <p:spPr>
          <a:xfrm>
            <a:off x="8174778" y="5315916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允许外部调用或修改</a:t>
            </a:r>
          </a:p>
        </p:txBody>
      </p:sp>
    </p:spTree>
    <p:extLst>
      <p:ext uri="{BB962C8B-B14F-4D97-AF65-F5344CB8AC3E}">
        <p14:creationId xmlns:p14="http://schemas.microsoft.com/office/powerpoint/2010/main" val="353981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15D4A6-3D02-5BC1-031F-40F029E26D36}"/>
              </a:ext>
            </a:extLst>
          </p:cNvPr>
          <p:cNvSpPr/>
          <p:nvPr/>
        </p:nvSpPr>
        <p:spPr>
          <a:xfrm>
            <a:off x="203254" y="154635"/>
            <a:ext cx="341632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封装与访问权限</a:t>
            </a:r>
            <a:endParaRPr lang="zh-CN" altLang="en-US" sz="3600" b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AAF857D-B008-ADC8-FC43-9F1ED2B1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345" y="0"/>
            <a:ext cx="7430844" cy="685800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9715B4FB-209F-27BC-CF0D-FEB1616984BF}"/>
              </a:ext>
            </a:extLst>
          </p:cNvPr>
          <p:cNvSpPr/>
          <p:nvPr/>
        </p:nvSpPr>
        <p:spPr>
          <a:xfrm>
            <a:off x="203254" y="1715575"/>
            <a:ext cx="4697897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请自己复写一遍，摸清细节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0A8E1DF-13A2-806C-E8DF-469607D36C1C}"/>
              </a:ext>
            </a:extLst>
          </p:cNvPr>
          <p:cNvSpPr txBox="1"/>
          <p:nvPr/>
        </p:nvSpPr>
        <p:spPr>
          <a:xfrm>
            <a:off x="176750" y="3878983"/>
            <a:ext cx="4453100" cy="2262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indent="457200">
              <a:spcAft>
                <a:spcPts val="18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对访问控制的权限管理机制很弱，属于粉饰了一下而已。用户很容易就能绕过私有限制，属于 防君子不防小人。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相比之下，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等语言，拥有强权限管理机制。它的私有属性，从外部是很难绕过去的。</a:t>
            </a:r>
          </a:p>
        </p:txBody>
      </p:sp>
    </p:spTree>
    <p:extLst>
      <p:ext uri="{BB962C8B-B14F-4D97-AF65-F5344CB8AC3E}">
        <p14:creationId xmlns:p14="http://schemas.microsoft.com/office/powerpoint/2010/main" val="523381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109318-FDC6-DD8F-50AF-3FC7618F855E}"/>
              </a:ext>
            </a:extLst>
          </p:cNvPr>
          <p:cNvSpPr/>
          <p:nvPr/>
        </p:nvSpPr>
        <p:spPr>
          <a:xfrm>
            <a:off x="203254" y="154635"/>
            <a:ext cx="618630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3600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面向过程编程、面向对象编程</a:t>
            </a:r>
            <a:endParaRPr lang="zh-CN" altLang="en-US" sz="3600" b="1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6CAB278-F91C-D9C4-4DB1-00C5133F333D}"/>
              </a:ext>
            </a:extLst>
          </p:cNvPr>
          <p:cNvSpPr/>
          <p:nvPr/>
        </p:nvSpPr>
        <p:spPr>
          <a:xfrm>
            <a:off x="887893" y="1126430"/>
            <a:ext cx="3664226" cy="2484782"/>
          </a:xfrm>
          <a:prstGeom prst="roundRect">
            <a:avLst>
              <a:gd name="adj" fmla="val 1293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面向过程编程：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程序的具体算法是什么？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顺序？选择？循环？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第一步？第二步？第三步？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什么函数要执行什么功能？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34701B-73D8-C9AC-8778-433556CE1596}"/>
              </a:ext>
            </a:extLst>
          </p:cNvPr>
          <p:cNvSpPr/>
          <p:nvPr/>
        </p:nvSpPr>
        <p:spPr>
          <a:xfrm>
            <a:off x="7500724" y="1126430"/>
            <a:ext cx="3664226" cy="2484782"/>
          </a:xfrm>
          <a:prstGeom prst="roundRect">
            <a:avLst>
              <a:gd name="adj" fmla="val 129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面向对象编程：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系统里都有哪些实体？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这些实体有什么数据和行为？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对象之间是如何协作的？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谁，负责干什么？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5717FA1-1FA1-2FFA-CB7F-E6D7325D4C3E}"/>
              </a:ext>
            </a:extLst>
          </p:cNvPr>
          <p:cNvSpPr/>
          <p:nvPr/>
        </p:nvSpPr>
        <p:spPr>
          <a:xfrm>
            <a:off x="4684641" y="2736568"/>
            <a:ext cx="2670313" cy="5300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C080A5-A7FA-3173-BCAB-6921AB084E7D}"/>
              </a:ext>
            </a:extLst>
          </p:cNvPr>
          <p:cNvSpPr/>
          <p:nvPr/>
        </p:nvSpPr>
        <p:spPr>
          <a:xfrm>
            <a:off x="682487" y="5466233"/>
            <a:ext cx="10588487" cy="104720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2400" b="1" dirty="0">
                <a:solidFill>
                  <a:schemeClr val="tx1"/>
                </a:solidFill>
              </a:rPr>
              <a:t>两者并非相互替换的关系，需从程序的逻辑和架构上去考虑。对于一个宏大的系统，两者在不同的角度上可能是互补的。</a:t>
            </a:r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0C48AFCC-D331-33D8-6201-4F65463C3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9" t="27057" r="9162" b="30725"/>
          <a:stretch/>
        </p:blipFill>
        <p:spPr>
          <a:xfrm>
            <a:off x="8160019" y="3634184"/>
            <a:ext cx="2345635" cy="1663864"/>
          </a:xfrm>
          <a:prstGeom prst="rect">
            <a:avLst/>
          </a:prstGeom>
        </p:spPr>
      </p:pic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AA24282F-3692-E288-17D3-C031EC4C8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" t="46736" r="55193" b="40430"/>
          <a:stretch/>
        </p:blipFill>
        <p:spPr>
          <a:xfrm>
            <a:off x="912743" y="4190925"/>
            <a:ext cx="3614526" cy="69559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CAEAC18-5456-2B06-1922-41C528905D6C}"/>
              </a:ext>
            </a:extLst>
          </p:cNvPr>
          <p:cNvSpPr txBox="1"/>
          <p:nvPr/>
        </p:nvSpPr>
        <p:spPr>
          <a:xfrm>
            <a:off x="3044617" y="4870039"/>
            <a:ext cx="13388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流水线结构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A70945-E70F-1CA1-64DB-D1BE5270BD37}"/>
              </a:ext>
            </a:extLst>
          </p:cNvPr>
          <p:cNvSpPr txBox="1"/>
          <p:nvPr/>
        </p:nvSpPr>
        <p:spPr>
          <a:xfrm>
            <a:off x="9995383" y="3984724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组织结构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CE5611-8A24-C2D9-3C49-04550D72F5F4}"/>
              </a:ext>
            </a:extLst>
          </p:cNvPr>
          <p:cNvSpPr/>
          <p:nvPr/>
        </p:nvSpPr>
        <p:spPr>
          <a:xfrm>
            <a:off x="4641573" y="1485622"/>
            <a:ext cx="267031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思维上的再抽象</a:t>
            </a:r>
          </a:p>
        </p:txBody>
      </p:sp>
    </p:spTree>
    <p:extLst>
      <p:ext uri="{BB962C8B-B14F-4D97-AF65-F5344CB8AC3E}">
        <p14:creationId xmlns:p14="http://schemas.microsoft.com/office/powerpoint/2010/main" val="232155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941</Words>
  <Application>Microsoft Office PowerPoint</Application>
  <PresentationFormat>宽屏</PresentationFormat>
  <Paragraphs>145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Junyi Wei</dc:creator>
  <cp:lastModifiedBy>Junyi Wei</cp:lastModifiedBy>
  <cp:revision>118</cp:revision>
  <dcterms:created xsi:type="dcterms:W3CDTF">2026-04-11T12:24:58Z</dcterms:created>
  <dcterms:modified xsi:type="dcterms:W3CDTF">2026-04-11T17:46:43Z</dcterms:modified>
</cp:coreProperties>
</file>